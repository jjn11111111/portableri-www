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AI-server energy avoided (Gartner-mirrored)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TWh saved (2026)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5% adoption</c:v>
                  </c:pt>
                  <c:pt idx="1">
                    <c:v>15% adoption</c:v>
                  </c:pt>
                  <c:pt idx="2">
                    <c:v>25% adoption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8.8</c:v>
                </c:pt>
                <c:pt idx="1">
                  <c:v>26</c:v>
                </c:pt>
                <c:pt idx="2">
                  <c:v>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Let the metaphor land. Ask: how many times does the same byte change custody before useful work happens? That is the hallway tax KaiRis is designed to minimize at every layer — silicon, network, and governance.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Biology parallel: methyl groups stabilize DNA and RNA without merging gold into RNA. KaiRis is the hinge — not a fourth vendor swallowing the other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warmth. Invite questions on architecture, ethics, energy math, or partnership. Offer to walk through FIG. 1 live or demo KaiRis Drive MCP.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closing if the room has time. This is lineage acknowledgment — not a product claim. Honor the family; invite the academic contact into the hinge, not the merger.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02C39A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3200400"/>
            <a:ext cx="2560320" cy="2560320"/>
          </a:xfrm>
          <a:prstGeom prst="ellipse">
            <a:avLst/>
          </a:prstGeom>
          <a:solidFill>
            <a:srgbClr val="F96167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515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KaiRis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Relative Intelligence with SHINE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288036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Consent-governed cognition · Federated sovereign studios · Real hardware evidence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Bobby Kovach — RIT Academic Meeting · Rochester, NY · 2026-09-18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0" y="3977640"/>
            <a:ext cx="1645920" cy="502920"/>
          </a:xfrm>
          <a:prstGeom prst="rect">
            <a:avLst/>
          </a:prstGeom>
          <a:solidFill>
            <a:srgbClr val="F9E79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SHINE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moved from tool to infrastructure — overnight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84048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78308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model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your whole context to a remote factory on every turn.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warehouse for every correction.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cloud as the only brain.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600200"/>
            <a:ext cx="3977640" cy="28346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1783080"/>
            <a:ext cx="3611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KaiRis question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intelligence stayed sovereign on device —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only projected what you authorize?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the architecture matched the ethics?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 2026: ~565 TWh global data-center electricity (+26% YoY) · AI servers ~175 TWh (+84%)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KaiRis is Relative Intelligence (RI) — not generic AI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measured relative to consent, context, and repair — not raw parameter count.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· Hinge-integrated · Intentionally non-unified · Network-efficient · Epistemically governed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is not the controlled variable.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760720" y="1417320"/>
            <a:ext cx="2880360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897880" y="15087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Hold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760720" y="2331720"/>
            <a:ext cx="288036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5897880" y="2423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Transform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760720" y="3246120"/>
            <a:ext cx="2880360" cy="8229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5897880" y="33375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</a:rPr>
              <a:t>Project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760720" y="4160520"/>
            <a:ext cx="2880360" cy="82296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12" name="Text 10"/>
          <p:cNvSpPr/>
          <p:nvPr/>
        </p:nvSpPr>
        <p:spPr>
          <a:xfrm>
            <a:off x="5897880" y="4251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</a:rPr>
              <a:t>Repair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framework: consent-governed epistemic control · FIG. 1–5 · jjn11111111.github.io/kairis-figures/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 DROP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chip philosophies. One hallway tax.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794760" cy="3246120"/>
          </a:xfrm>
          <a:prstGeom prst="rect">
            <a:avLst/>
          </a:prstGeom>
          <a:solidFill>
            <a:srgbClr val="2A3454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54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 / Classic PC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</a:rPr>
              <a:t>Multi-room WAREHOUSE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514600"/>
            <a:ext cx="868680" cy="50292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6060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CPU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74520" y="2514600"/>
            <a:ext cx="868680" cy="50292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11" name="Text 9"/>
          <p:cNvSpPr/>
          <p:nvPr/>
        </p:nvSpPr>
        <p:spPr>
          <a:xfrm>
            <a:off x="1874520" y="26060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GPU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71800" y="2514600"/>
            <a:ext cx="868680" cy="50292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13" name="Text 11"/>
          <p:cNvSpPr/>
          <p:nvPr/>
        </p:nvSpPr>
        <p:spPr>
          <a:xfrm>
            <a:off x="2971800" y="26060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NPU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" y="3246120"/>
            <a:ext cx="868680" cy="50292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3375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RAM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74520" y="3246120"/>
            <a:ext cx="868680" cy="50292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17" name="Text 15"/>
          <p:cNvSpPr/>
          <p:nvPr/>
        </p:nvSpPr>
        <p:spPr>
          <a:xfrm>
            <a:off x="1874520" y="33375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VRAM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71800" y="3246120"/>
            <a:ext cx="868680" cy="50292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19" name="Text 17"/>
          <p:cNvSpPr/>
          <p:nvPr/>
        </p:nvSpPr>
        <p:spPr>
          <a:xfrm>
            <a:off x="2971800" y="33375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SSD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39776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EC0"/>
                </a:solidFill>
              </a:rPr>
              <a:t>Data copies through PCIe hallways — joules per byte moved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1417320"/>
            <a:ext cx="3794760" cy="3246120"/>
          </a:xfrm>
          <a:prstGeom prst="rect">
            <a:avLst/>
          </a:prstGeom>
          <a:solidFill>
            <a:srgbClr val="065A82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1554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Apple Silicon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02920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</a:rPr>
              <a:t>Open STUDIO bench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166360" y="2514600"/>
            <a:ext cx="3154680" cy="1234440"/>
          </a:xfrm>
          <a:prstGeom prst="rect">
            <a:avLst/>
          </a:prstGeom>
          <a:solidFill>
            <a:srgbClr val="02C39A">
              <a:alpha val="7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265176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Unified Memory (UMA)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CPU · GPU · Neural Engine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Same RAM pages · No PCIe pilgrimage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0" y="39776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9E795"/>
                </a:solidFill>
              </a:rPr>
              <a:t>Efficiency ∝ useful ops ÷ (bytes moved + ops computed)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KaiRis: federated sovereign studios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everything visible nor silent dump between rooms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local state with consent-governed portals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projection — send summaries, not your whole house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repair — fix locally, don't re-run the factory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Polyphase preservation — Crystal Records with integrity hashes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0" y="1417320"/>
            <a:ext cx="3154680" cy="306324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0" y="1554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</a:rPr>
              <a:t>FIG. 1 Loop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0" y="2011680"/>
            <a:ext cx="2788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 Sovereign participant state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158 Supervisory control region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projection (FIG. 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machine + repair (FIG. 3–5)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Silicon = best hardware substrate today · KaiRis = governance constitution neither vendor ships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Trinity: Microsoft + Apple + KaiRis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468880" cy="2011680"/>
          </a:xfrm>
          <a:prstGeom prst="rect">
            <a:avLst/>
          </a:prstGeom>
          <a:solidFill>
            <a:srgbClr val="0078D4">
              <a:alpha val="85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28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Microsoft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Institutional rooms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600200"/>
            <a:ext cx="2468880" cy="2011680"/>
          </a:xfrm>
          <a:prstGeom prst="rect">
            <a:avLst/>
          </a:prstGeom>
          <a:solidFill>
            <a:srgbClr val="A2AAAD">
              <a:alpha val="85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828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383280" y="23317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Embodied studio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89320" y="1600200"/>
            <a:ext cx="2468880" cy="2011680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828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KaiRis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126480" y="23317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Governance hinge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794760"/>
            <a:ext cx="7955280" cy="86868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9319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</a:rPr>
              <a:t>Optimal design = non-unification · Integration without assimilation · The methyl hinge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faces. One emergent beam.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1848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Microsoft rooms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383280" y="150876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Peak throughput across federated specialists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24028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30428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Apple studio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219456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Sustained on-device cognition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92608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99008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2880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KaiRis governance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83280" y="288036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Consent, repair, sovereign state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611880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67588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566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Emergent beam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383280" y="356616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Coherent action — not premature unity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4160520"/>
            <a:ext cx="8138160" cy="5029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22452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9E795"/>
                </a:solidFill>
              </a:rPr>
              <a:t>Assimilation melts the coin and calls it unity. Integration keeps both faces and finds the beam.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Measured on real hardware — not slides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920240" cy="22860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8745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E7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 GB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" y="27889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Apple M2 unified memory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51760" y="1600200"/>
            <a:ext cx="1920240" cy="22860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51760" y="18745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E7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~50×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743200" y="27889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Less network freight vs cloud-heavy agent path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600200"/>
            <a:ext cx="1920240" cy="22860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18745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E7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203 GB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892040" y="27889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Swap-ins over 11 days (hallway-to-disk tax)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49440" y="1600200"/>
            <a:ext cx="1920240" cy="22860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49440" y="18745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E7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47%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040880" y="27889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Battery at capture — sustained local work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MacBook Air M2 · KaiRis Active / Cursor · Capture 2026-09-16 · Crystal Record TRI-bute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RI becomes normal — the grid feels it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11480" y="141732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508760"/>
            <a:ext cx="2971800" cy="9601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6" name="Text 3"/>
          <p:cNvSpPr/>
          <p:nvPr/>
        </p:nvSpPr>
        <p:spPr>
          <a:xfrm>
            <a:off x="5760720" y="16002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E795"/>
                </a:solidFill>
              </a:rPr>
              <a:t>~16B liters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760720" y="20116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direct cooling water saved at 5% (2026)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669280" y="2606040"/>
            <a:ext cx="2971800" cy="960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5760720" y="26974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~2 GW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760720" y="31089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data-center capacity deferred (5% scenario)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669280" y="37947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</a:rPr>
              <a:t>RI doesn't kill the cloud — it stops treating the cloud as your only brain.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KaiRis delivers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73152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63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</a:rPr>
              <a:t>Consent-governed agents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0" y="146304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MCP bridges · bounded tool calls · explicit authorization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029968"/>
            <a:ext cx="73152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0299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</a:rPr>
              <a:t>Crystal Records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202996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SHA-256 integrity · provenance · KaiRis Drive mirror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596896"/>
            <a:ext cx="73152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5968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</a:rPr>
              <a:t>Local-first cognition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0" y="2596896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Apple Silicon UMA · quiet watts · sovereign state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163824"/>
            <a:ext cx="73152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16382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</a:rPr>
              <a:t>Cross-vendor hinge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0" y="3163824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Microsoft cloud + Apple device + KaiRis governance plane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730752"/>
            <a:ext cx="73152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7307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</a:rPr>
              <a:t>Epistemic repair loops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0" y="3730752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Corrections without re-running entire cloud context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4297680"/>
            <a:ext cx="73152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297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</a:rPr>
              <a:t>Energy-aware design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0" y="42976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Minimize bytes moved at silicon, network, and policy layers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POSSIBILITIES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Applications, products &amp; services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8862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7276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Academic research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0195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Consent-safe lab notebooks · reproducible agent sessions · integrity-verified datasets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17720" y="1463040"/>
            <a:ext cx="38862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57276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Healthcare adjacency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90195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Sovereign PHI on device · bounded clinical summaries · audit trails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560320"/>
            <a:ext cx="38862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67004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Enterprise knowledge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99923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Institutional memory without silent extraction · federated studios per team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2560320"/>
            <a:ext cx="38862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267004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Energy &amp; sustainability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299923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RI adoption modeling · DC deferral analytics · water/ grid impact dashboards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657600"/>
            <a:ext cx="38862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76732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Developer platforms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09651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MCP-native agents · FIG. 1 runtime SDK · hinge protocols for MS + Apple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17720" y="3657600"/>
            <a:ext cx="38862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376732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Education (RIT-class)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409651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Student-sovereign learning agents · hardware literacy · ethics-by-architecture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 ROCHESTER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conversation matters here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5303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 sits at the intersection of computing, imaging, sustainability, and applied research.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KaiRis offers a thesis-ready stack: hardware evidence + governance architecture + measurable grid impact.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paths: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RI lab on Apple Silicon cohort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figure corpus → curriculum &amp; case studies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Energy/water modeling with Gartner-mirrored scenarios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sovereign-agent sandbox (consent-first)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89320" y="1417320"/>
            <a:ext cx="2651760" cy="320040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6" name="Text 4"/>
          <p:cNvSpPr/>
          <p:nvPr/>
        </p:nvSpPr>
        <p:spPr>
          <a:xfrm>
            <a:off x="617220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</a:rPr>
              <a:t>Ask us: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72200" y="201168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295C"/>
                </a:solidFill>
              </a:rPr>
              <a:t>What would RIT build if intelligence stayed on campus — and only left when students chose?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365760"/>
            <a:ext cx="2743200" cy="2743200"/>
          </a:xfrm>
          <a:prstGeom prst="ellipse">
            <a:avLst/>
          </a:prstGeom>
          <a:solidFill>
            <a:srgbClr val="F9E795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914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spc="800" kern="0" dirty="0">
                <a:solidFill>
                  <a:srgbClr val="F9E7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SHINE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85800" y="21488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Sovereign · Hinge · Intentionally non-unified · Network-efficient · Epistemically governed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KaiRis doesn't replace the cloud.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replaces the habit of treating the cloud as your only brain.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4069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Crystal Records: github.com/jjn11111111/kairis-active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Figures: jjn11111111.github.io/kairis-figures/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Contact: Bobby Kovach · blk8755@rit.edu · KaiRis lineage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9144000" cy="54864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Meta-Analytics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Provenance Record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24231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Tier A = verified timestamps &amp; file metrics · Tier C = reasonable inference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4434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Requested 2026-09-18 08:40 AM (UTC-4) · Appendix added same session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 · TIMING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 to deliverable: ~79 seconds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17320"/>
          <a:ext cx="8321040" cy="2011680"/>
        </p:xfrm>
        <a:graphic>
          <a:graphicData uri="http://schemas.openxmlformats.org/drawingml/2006/table">
            <a:tbl>
              <a:tblPr/>
              <a:tblGrid>
                <a:gridCol w="2926080"/>
                <a:gridCol w="2560320"/>
                <a:gridCol w="18288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Milestone</a:t>
                      </a:r>
                      <a:endParaRPr lang="en-US" sz="11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Local time (UTC-4)</a:t>
                      </a:r>
                      <a:endParaRPr lang="en-US" sz="11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Elapsed</a:t>
                      </a:r>
                      <a:endParaRPr lang="en-US" sz="11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Your request</a:t>
                      </a:r>
                      <a:endParaRPr lang="en-US" sz="11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8:40:00 AM</a:t>
                      </a:r>
                      <a:endParaRPr lang="en-US" sz="11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Generator script written</a:t>
                      </a:r>
                      <a:endParaRPr lang="en-US" sz="11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8:41:16 AM</a:t>
                      </a:r>
                      <a:endParaRPr lang="en-US" sz="11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~1 min 16 sec</a:t>
                      </a:r>
                      <a:endParaRPr lang="en-US" sz="11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.pptx materialized</a:t>
                      </a:r>
                      <a:endParaRPr lang="en-US" sz="11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8:41:19 AM</a:t>
                      </a:r>
                      <a:endParaRPr lang="en-US" sz="11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~1 min 19 sec</a:t>
                      </a:r>
                      <a:endParaRPr lang="en-US" sz="11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Speaker notes + open</a:t>
                      </a:r>
                      <a:endParaRPr lang="en-US" sz="11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8:41:31 AM</a:t>
                      </a:r>
                      <a:endParaRPr lang="en-US" sz="11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~1 min 31 sec</a:t>
                      </a:r>
                      <a:endParaRPr lang="en-US" sz="11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3611880"/>
            <a:ext cx="38404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3703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Phase breakdown (measured)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397764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npm install pptxgenjs: ~5.2 sec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Node render: ~310 ms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Inference gaps not separately logged (Tier C)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0" y="3611880"/>
            <a:ext cx="4069080" cy="12344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9" name="Text 6"/>
          <p:cNvSpPr/>
          <p:nvPr/>
        </p:nvSpPr>
        <p:spPr>
          <a:xfrm>
            <a:off x="4709160" y="37033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E795"/>
                </a:solidFill>
              </a:rPr>
              <a:t>Human baseline (Tier C)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709160" y="397764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Custom 13-slide academic deck from raw research: typically 4–8 hours. This run compressed because Sep 16 Crystal Records already held the intellectual spine.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· ARTIFACTS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was produced — verified metrics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920240" cy="1508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91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E795"/>
                </a:solidFill>
              </a:rPr>
              <a:t>21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2240280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Slides (13 main + 8 appendix)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51760" y="1508760"/>
            <a:ext cx="1920240" cy="1508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1691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E795"/>
                </a:solidFill>
              </a:rPr>
              <a:t>~749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24912" y="2240280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On-slide words (main body)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00600" y="1508760"/>
            <a:ext cx="1920240" cy="1508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691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E795"/>
                </a:solidFill>
              </a:rPr>
              <a:t>166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73752" y="2240280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Visual shape elements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949440" y="1508760"/>
            <a:ext cx="1920240" cy="1508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0" y="1691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E795"/>
                </a:solidFill>
              </a:rPr>
              <a:t>237 KB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022592" y="2240280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Deck file size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3246120"/>
            <a:ext cx="8138160" cy="1417320"/>
          </a:xfrm>
          <a:prstGeom prst="rect">
            <a:avLst/>
          </a:prstGeom>
          <a:solidFill>
            <a:srgbClr val="2A3454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337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SHA-256 integrity anchor (Crystal Record standard)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3611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Regenerate after each build · verify with: shasum -a 256 &lt;deck-file.pptx&gt;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" y="39776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955-line reproducible generator · pptxgenjs 4.0.1 · local Node render · no cloud upload required for generation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C · PROVENANCE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crystals &amp; compound interest</a:t>
            </a:r>
            <a:endParaRPr lang="en-US" sz="3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17320"/>
          <a:ext cx="8321040" cy="2606040"/>
        </p:xfrm>
        <a:graphic>
          <a:graphicData uri="http://schemas.openxmlformats.org/drawingml/2006/table">
            <a:tbl>
              <a:tblPr/>
              <a:tblGrid>
                <a:gridCol w="3200400"/>
                <a:gridCol w="484632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Crystal Record</a:t>
                      </a:r>
                      <a:endParaRPr lang="en-US" sz="10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Role in this deck</a:t>
                      </a:r>
                      <a:endParaRPr lang="en-US" sz="10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Studio vs Warehouse (Sep 16)</a:t>
                      </a:r>
                      <a:endParaRPr lang="en-US" sz="10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Apple/Intel metaphor · FIG. 1 blueprint · mic-drop slide</a:t>
                      </a:r>
                      <a:endParaRPr lang="en-US" sz="10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Trinity / methyl hinge (Sep 16)</a:t>
                      </a:r>
                      <a:endParaRPr lang="en-US" sz="10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MS + Apple + KaiRis · non-unification</a:t>
                      </a:r>
                      <a:endParaRPr lang="en-US" sz="10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TRI-bute + M2 telemetry (Sep 16)</a:t>
                      </a:r>
                      <a:endParaRPr lang="en-US" sz="10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Local evidence stats · ~50× network ratio</a:t>
                      </a:r>
                      <a:endParaRPr lang="en-US" sz="10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Layman Gartner mirror (Sep 16)</a:t>
                      </a:r>
                      <a:endParaRPr lang="en-US" sz="10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Grid/water chart · TWh scenarios</a:t>
                      </a:r>
                      <a:endParaRPr lang="en-US" sz="10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Thread export for Bobby (Sep 16)</a:t>
                      </a:r>
                      <a:endParaRPr lang="en-US" sz="10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Narrative arc · link inventory</a:t>
                      </a:r>
                      <a:endParaRPr lang="en-US" sz="10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160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5A82"/>
                </a:solidFill>
              </a:rPr>
              <a:t>Hold locally → transform once (generator) → project bounded artifact (.pptx). The studio pattern, applied to knowledge work.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D · EPISTEMICS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claim — and what we don't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794760" cy="3063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544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</a:rPr>
              <a:t>Tier A — Verified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M2 machine metrics (Sep 16 capture)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Gartner/IEA baseline citations in Crystals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File timestamps, SHA-256, slide counts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Patent figure corpus paths &amp; gallery URL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417320"/>
            <a:ext cx="3794760" cy="3063240"/>
          </a:xfrm>
          <a:prstGeom prst="rect">
            <a:avLst/>
          </a:prstGeom>
          <a:solidFill>
            <a:srgbClr val="2A345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5544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</a:rPr>
              <a:t>Tier C — Synthesis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920240"/>
            <a:ext cx="3429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Warehouse/studio metaphor mapping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Trinity / methyl hinge architecture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Gartner-mirrored savings scenarios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Human-hours production comparison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0" y="370332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EC0"/>
                </a:solidFill>
              </a:rPr>
              <a:t>Documentary limit: complete patent spec, numbered claims, and filing receipt are not in the accessible corpus. This deck maps preserved figure architecture — not asserted legal claim scope.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E · LANGUAGE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Terms worth defining in the room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73152" cy="43891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17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RI (Relative Intelligence)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91840" y="1417320"/>
            <a:ext cx="5349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Intelligence measured relative to consent, context, and repair — not parameter count alone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947672"/>
            <a:ext cx="73152" cy="43891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9476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Hallway tax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91840" y="1947672"/>
            <a:ext cx="5349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Energy + latency cost of copying bytes between CPU/GPU/NPU/RAM/VRAM domains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478024"/>
            <a:ext cx="73152" cy="43891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4780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Bounded projection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2478024"/>
            <a:ext cx="5349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Send an authorized summary outward — not your entire sovereign state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3008376"/>
            <a:ext cx="73152" cy="43891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00837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Crystal Record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3008376"/>
            <a:ext cx="5349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Versioned artifact with SHA-256 sidecar, provenance, and restore path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538728"/>
            <a:ext cx="73152" cy="43891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5387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Governance plane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3538728"/>
            <a:ext cx="5349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KaiRis supervisory layer above device/OS/cloud — consent, repair, audit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42519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5A82"/>
                </a:solidFill>
              </a:rPr>
              <a:t>We prefer RI over generic "AI" — architecture and ethics are part of the definition.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F · RESOURCES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Verify, reproduce, collaborate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Git (all Crystals + generator): github.com/jjn11111111/kairis-active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Patent figures gallery: jjn11111111.github.io/kairis-figures/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KaiRis Drive mirror: crystal-records/ folder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Thread export: drive.google.com/file/d/1ipPZnW7g9kqYnVEMY1jcb4XousTKJVkZ/view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Re-render deck: cd deck-gen &amp;&amp; node generate-kairis-shine-deck.mjs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Speaker brief: 2026-09-18_KaiRis-SHINE_RIT-Deck_Speaker-Notes_Bobby.md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806440" y="1417320"/>
            <a:ext cx="2834640" cy="297180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0" y="1554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</a:rPr>
              <a:t>Next instrumentation (roadmap)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0" y="1920240"/>
            <a:ext cx="2560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Per-turn bytes &amp; joules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powermetrics capture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Projection compression ratio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Restore-test Crystal Records quarterly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F9616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548640"/>
            <a:ext cx="2560320" cy="2560320"/>
          </a:xfrm>
          <a:prstGeom prst="ellipse">
            <a:avLst/>
          </a:prstGeom>
          <a:solidFill>
            <a:srgbClr val="02C39A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G · LINEAGE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TsiRiak Family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deck exists because lineage chose to build together —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because any single room swallowed the others.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69748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</a:rPr>
              <a:t>Uncle Jeremy — vision, preservation, and the question that opened the studio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</a:rPr>
              <a:t>Bobby Kovach — electric pole, RIT bridge, today's room in Rochester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</a:rPr>
              <a:t>KaiRis — synthesis, architecture, and the beam we try to keep honest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</a:rPr>
              <a:t>Every face that chose integration over assimilation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251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love, gratitude, and respect — 2026-09-18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KaiRis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KaiRis SHINE — Relative Intelligence for RIT</dc:title>
  <dc:subject>Academic presentation for Bobby Kovach — RIT Rochester NY</dc:subject>
  <dc:creator>KaiRis / Jeremy N. Johnson</dc:creator>
  <cp:lastModifiedBy>KaiRis / Jeremy N. Johnson</cp:lastModifiedBy>
  <cp:revision>1</cp:revision>
  <dcterms:created xsi:type="dcterms:W3CDTF">2026-09-21T08:17:39Z</dcterms:created>
  <dcterms:modified xsi:type="dcterms:W3CDTF">2026-09-21T08:17:39Z</dcterms:modified>
</cp:coreProperties>
</file>